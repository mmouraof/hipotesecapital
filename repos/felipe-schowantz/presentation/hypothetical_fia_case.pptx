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73152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5070348"/>
            <a:ext cx="1097280" cy="73152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70848" y="365760"/>
            <a:ext cx="54864" cy="4389120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4572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4572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4572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82296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82296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82296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18872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118872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118872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9601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RIVER ASSOCIATES  ·  INTERNSHIP CASE STUDY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13258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320040" y="2377440"/>
            <a:ext cx="4114800" cy="2286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688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B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Analysis Platform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0040" y="3063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institutional platform  ·  3 companies  ·  3 build phases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2D4F6A"/>
          </a:solidFill>
          <a:ln w="12700">
            <a:solidFill>
              <a:srgbClr val="2D4F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66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566160"/>
            <a:ext cx="137160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356616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2D4F6A"/>
          </a:solidFill>
          <a:ln w="12700">
            <a:solidFill>
              <a:srgbClr val="2D4F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566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3566160"/>
            <a:ext cx="137160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356616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2D4F6A"/>
          </a:solidFill>
          <a:ln w="12700">
            <a:solidFill>
              <a:srgbClr val="2D4F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566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20440" y="3566160"/>
            <a:ext cx="137160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2194560"/>
            <a:ext cx="1828800" cy="54864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6766560" y="3063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River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institutional-grade platform from scratch — three progressive phases.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2743200" cy="329184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2743200" cy="457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" y="1499616"/>
            <a:ext cx="475488" cy="475488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19385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" y="2331720"/>
            <a:ext cx="252374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423160"/>
            <a:ext cx="2523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market data extractor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macro indicators (Selic, IPCA, FX)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 regulatory filings (ITR/DFP)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 with Anthropic API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interactive dashboard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64408" y="1371600"/>
            <a:ext cx="2743200" cy="329184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371600"/>
            <a:ext cx="2743200" cy="457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92424" y="1499616"/>
            <a:ext cx="475488" cy="475488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92424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50208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74136" y="19385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Pipeline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74136" y="2331720"/>
            <a:ext cx="252374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423160"/>
            <a:ext cx="2523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central data warehouse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SQL transformations (medallion)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orchestration (DAGs)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multi-service deployment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README documentation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08776" y="1371600"/>
            <a:ext cx="2743200" cy="329184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1371600"/>
            <a:ext cx="2743200" cy="457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1499616"/>
            <a:ext cx="475488" cy="475488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36792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94576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18504" y="19385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Intelligence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8504" y="2331720"/>
            <a:ext cx="252374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2423160"/>
            <a:ext cx="2523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transcript ingestion (PDF/TXT)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file parsing &amp; chunking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Vector-context RAG pipeline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LLM (Anthropic + OpenAI)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Helper chat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Platform, Not a Helper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was never to build a chatbot that assists analysis. It was to build the infrastructure that powers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384048" cy="384048"/>
          </a:xfrm>
          <a:prstGeom prst="ellipse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—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9659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(extract → transform → serve) is independently replaceable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384048" cy="384048"/>
          </a:xfrm>
          <a:prstGeom prst="ellipse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514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first —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514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 ensures identical env on any machine, any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26664"/>
            <a:ext cx="384048" cy="384048"/>
          </a:xfrm>
          <a:prstGeom prst="ellipse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0632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by design —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0632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tracks every transformation — bronze raw → staging typed → gold analytics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75304"/>
            <a:ext cx="384048" cy="384048"/>
          </a:xfrm>
          <a:prstGeom prst="ellipse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611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reasoning layer —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611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structured context, not free-form raw data — grounded synthesis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23944"/>
            <a:ext cx="384048" cy="384048"/>
          </a:xfrm>
          <a:prstGeom prst="ellipse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160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not manual —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41605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DAGs automate extraction, transformation, and synthesis weekly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95160" y="1920240"/>
            <a:ext cx="1920240" cy="278892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95160" y="1920240"/>
            <a:ext cx="192024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19933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SCRIPT?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86600" y="2724912"/>
            <a:ext cx="182880" cy="182880"/>
          </a:xfrm>
          <a:prstGeom prst="ellipse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2697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reproducibility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86600" y="3072384"/>
            <a:ext cx="182880" cy="182880"/>
          </a:xfrm>
          <a:prstGeom prst="ellipse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30449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lineage tracking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6600" y="3419856"/>
            <a:ext cx="182880" cy="182880"/>
          </a:xfrm>
          <a:prstGeom prst="ellipse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3924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re-runs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86600" y="3767328"/>
            <a:ext cx="182880" cy="182880"/>
          </a:xfrm>
          <a:prstGeom prst="ellipse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37398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data warehouse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86600" y="4114800"/>
            <a:ext cx="182880" cy="182880"/>
          </a:xfrm>
          <a:prstGeom prst="ellipse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40873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audit trail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— from raw APIs to analyst-ready outputs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234440"/>
            <a:ext cx="1325880" cy="1463040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234440"/>
            <a:ext cx="132588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" y="1892808"/>
            <a:ext cx="110642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476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· CVM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· PDF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08760" y="1901952"/>
            <a:ext cx="201168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234440"/>
            <a:ext cx="1325880" cy="146304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45920" y="1234440"/>
            <a:ext cx="132588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55648" y="1892808"/>
            <a:ext cx="110642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19476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cvm.py · yf.py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71800" y="1901952"/>
            <a:ext cx="201168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1234440"/>
            <a:ext cx="1325880" cy="1463040"/>
          </a:xfrm>
          <a:prstGeom prst="rect">
            <a:avLst/>
          </a:prstGeom>
          <a:solidFill>
            <a:srgbClr val="1E4A2F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1234440"/>
            <a:ext cx="132588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18688" y="1892808"/>
            <a:ext cx="110642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19476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Parquet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34840" y="1901952"/>
            <a:ext cx="201168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234440"/>
            <a:ext cx="1325880" cy="1463040"/>
          </a:xfrm>
          <a:prstGeom prst="rect">
            <a:avLst/>
          </a:prstGeom>
          <a:solidFill>
            <a:srgbClr val="1A3D1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234440"/>
            <a:ext cx="132588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(dbt)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1728" y="1892808"/>
            <a:ext cx="110642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9476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 / cast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97880" y="1901952"/>
            <a:ext cx="201168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1234440"/>
            <a:ext cx="1325880" cy="1463040"/>
          </a:xfrm>
          <a:prstGeom prst="rect">
            <a:avLst/>
          </a:prstGeom>
          <a:solidFill>
            <a:srgbClr val="2E4A1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1234440"/>
            <a:ext cx="132588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(dbt)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44768" y="1892808"/>
            <a:ext cx="110642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9476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60920" y="1901952"/>
            <a:ext cx="201168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34440"/>
            <a:ext cx="1325880" cy="146304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98080" y="1234440"/>
            <a:ext cx="132588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13258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07808" y="1892808"/>
            <a:ext cx="110642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19476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2880360"/>
            <a:ext cx="8412480" cy="2286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2944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LAYER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291840"/>
            <a:ext cx="1280160" cy="13716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6576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11480" y="3931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28800" y="3291840"/>
            <a:ext cx="1280160" cy="13716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82880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874520" y="3931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scheduling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1840" y="3291840"/>
            <a:ext cx="1280160" cy="13716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29184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337560" y="3931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3291840"/>
            <a:ext cx="1280160" cy="13716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5488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800600" y="3931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transforms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lineage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3291840"/>
            <a:ext cx="1280160" cy="13716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21792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263640" y="3931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680960" y="3291840"/>
            <a:ext cx="1280160" cy="13716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68096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726680" y="39319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and environment isolation through containerization.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57200" cy="457200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3167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spins the entire stack: Airflow, PostgreSQL, dbt, Streamlit — no manual installs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57200" cy="457200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Isolation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runs in its own container — no dependency conflicts between Airflow, dbt, and Python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57200" cy="457200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Reproducibility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images on every machine. Any interviewer can clone + run — identical output guaranteed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57200" cy="457200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7856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Pattern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how quant teams deploy pipelines at institutional asset managers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2651760" cy="347472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188720"/>
            <a:ext cx="265176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126187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services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171907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682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         (PostgreSQL 15)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205740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airflow-webserver (Airflow 2.9.2)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2395728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airflow-scheduler (DAG runner)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2734056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airflow-worker    (Celery executor)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3072384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            (Message broker)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3410712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              (Transformations)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3749040"/>
            <a:ext cx="91440" cy="914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       (Dashboard :8501)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data streams feed the Bronze layer.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4206240" cy="1645920"/>
          </a:xfrm>
          <a:prstGeom prst="rect">
            <a:avLst/>
          </a:prstGeom>
          <a:solidFill>
            <a:srgbClr val="1A3D5C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80160"/>
            <a:ext cx="45720" cy="16459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API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14173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417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1764792"/>
            <a:ext cx="398678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828800"/>
            <a:ext cx="39867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overnight rate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 inflation index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USD/BRL exchange rate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balance (exports/imports)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432, 433, 1, 22704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4206240" cy="1645920"/>
          </a:xfrm>
          <a:prstGeom prst="rect">
            <a:avLst/>
          </a:prstGeom>
          <a:solidFill>
            <a:srgbClr val="1E406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80160"/>
            <a:ext cx="45720" cy="16459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 Portal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0" y="14173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1417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64608" y="1764792"/>
            <a:ext cx="398678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828800"/>
            <a:ext cx="39867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 — quarterly financial statements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DFP — annual financial statements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(income), Balanço (balance sheet)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(cash flow)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ASAI3, PRIO3, RENT3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063240"/>
            <a:ext cx="4206240" cy="1645920"/>
          </a:xfrm>
          <a:prstGeom prst="rect">
            <a:avLst/>
          </a:prstGeom>
          <a:solidFill>
            <a:srgbClr val="1A3D5C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63240"/>
            <a:ext cx="45720" cy="16459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37560" y="32004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200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9768" y="3547872"/>
            <a:ext cx="398678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611880"/>
            <a:ext cx="39867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close prices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P/E, P/BV, EV/EBITDA multiples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cap, volume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52-week high/low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ASAI3.SA, PRIO3.SA, RENT3.SA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063240"/>
            <a:ext cx="4206240" cy="1645920"/>
          </a:xfrm>
          <a:prstGeom prst="rect">
            <a:avLst/>
          </a:prstGeom>
          <a:solidFill>
            <a:srgbClr val="1E406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63240"/>
            <a:ext cx="45720" cy="16459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40680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Transcripts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0" y="32004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3200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64608" y="3547872"/>
            <a:ext cx="3986784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611880"/>
            <a:ext cx="39867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TXT formats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ticker/date parsing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4T25 calls: PRIO3, ASAI3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into ~300-char segments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staging.transcripts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ORCHESTRATION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2.9.2 — Three production DAGs managing the full data lifecycle.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8503920" cy="109728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80160"/>
            <a:ext cx="850392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monday_briefing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1371600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371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(Mon 9h)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1691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weekly pipeline: extract all sources, run dbt transformations, generate LLM synthesis report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731520" cy="6400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463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321808" y="1755648"/>
            <a:ext cx="54864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76672" y="1463040"/>
            <a:ext cx="731520" cy="6400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76672" y="1463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76672" y="1920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6126480" y="1755648"/>
            <a:ext cx="54864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463040"/>
            <a:ext cx="731520" cy="6400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81344" y="1463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81344" y="1920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931152" y="1755648"/>
            <a:ext cx="54864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86016" y="1463040"/>
            <a:ext cx="731520" cy="640080"/>
          </a:xfrm>
          <a:prstGeom prst="rect">
            <a:avLst/>
          </a:prstGeom>
          <a:solidFill>
            <a:srgbClr val="1E3D1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86016" y="1463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986016" y="1920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BashOp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7735824" y="1755648"/>
            <a:ext cx="54864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90688" y="1463040"/>
            <a:ext cx="731520" cy="640080"/>
          </a:xfrm>
          <a:prstGeom prst="rect">
            <a:avLst/>
          </a:prstGeom>
          <a:solidFill>
            <a:srgbClr val="4A2D0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90688" y="1463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90688" y="1920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320040" y="2514600"/>
            <a:ext cx="8503920" cy="109728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514600"/>
            <a:ext cx="850392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2587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site_ingestion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017520" y="2606040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2606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8912" y="2926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new transcript dropped in uploads/. Parses filename (ticker, period, date), chunks, loads to staging.transcripts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2697480"/>
            <a:ext cx="731520" cy="640080"/>
          </a:xfrm>
          <a:prstGeom prst="rect">
            <a:avLst/>
          </a:prstGeom>
          <a:solidFill>
            <a:srgbClr val="3D1A4D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0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0" y="3154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FileSensor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5321808" y="2990088"/>
            <a:ext cx="54864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76672" y="2697480"/>
            <a:ext cx="731520" cy="6400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376672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376672" y="3154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6126480" y="2990088"/>
            <a:ext cx="54864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1344" y="2697480"/>
            <a:ext cx="731520" cy="6400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181344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181344" y="3154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6931152" y="2990088"/>
            <a:ext cx="54864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86016" y="2697480"/>
            <a:ext cx="731520" cy="640080"/>
          </a:xfrm>
          <a:prstGeom prst="rect">
            <a:avLst/>
          </a:prstGeom>
          <a:solidFill>
            <a:srgbClr val="1E3D1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986016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986016" y="3154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20040" y="3749040"/>
            <a:ext cx="8503920" cy="109728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0040" y="3749040"/>
            <a:ext cx="850392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3822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llm_synthesis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017520" y="3840480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3840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(Mon 9h)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38912" y="4160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RAG context (macro + market + financials + transcripts), calls LLM API, persists synthesis to database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0" y="3931920"/>
            <a:ext cx="731520" cy="640080"/>
          </a:xfrm>
          <a:prstGeom prst="rect">
            <a:avLst/>
          </a:prstGeom>
          <a:solidFill>
            <a:srgbClr val="1A4D6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57200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0" y="4389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5321808" y="4224528"/>
            <a:ext cx="54864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76672" y="3931920"/>
            <a:ext cx="731520" cy="640080"/>
          </a:xfrm>
          <a:prstGeom prst="rect">
            <a:avLst/>
          </a:prstGeom>
          <a:solidFill>
            <a:srgbClr val="4A2D0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376672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376672" y="4389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6126480" y="4224528"/>
            <a:ext cx="54864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81344" y="3931920"/>
            <a:ext cx="731520" cy="640080"/>
          </a:xfrm>
          <a:prstGeom prst="rect">
            <a:avLst/>
          </a:prstGeom>
          <a:solidFill>
            <a:srgbClr val="1E3D1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6181344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181344" y="4389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dbt: SQL AS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— structured transformation pipeline with full lineage tracking.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743200" cy="2926080"/>
          </a:xfrm>
          <a:prstGeom prst="rect">
            <a:avLst/>
          </a:prstGeom>
          <a:solidFill>
            <a:srgbClr val="5C3A1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88720"/>
            <a:ext cx="2743200" cy="7315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700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2377440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84832"/>
            <a:ext cx="24688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Parquet files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Untyped / unvalidated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output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2633472"/>
            <a:ext cx="32004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188720"/>
            <a:ext cx="2743200" cy="2926080"/>
          </a:xfrm>
          <a:prstGeom prst="rect">
            <a:avLst/>
          </a:prstGeom>
          <a:solidFill>
            <a:srgbClr val="2A4A2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8AB88A"/>
          </a:solidFill>
          <a:ln w="12700">
            <a:solidFill>
              <a:srgbClr val="8AB8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298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1700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2011680"/>
            <a:ext cx="2377440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084832"/>
            <a:ext cx="24688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columns (CAST)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 NaN → NULL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column names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2633472"/>
            <a:ext cx="32004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188720"/>
            <a:ext cx="2743200" cy="2926080"/>
          </a:xfrm>
          <a:prstGeom prst="rect">
            <a:avLst/>
          </a:prstGeom>
          <a:solidFill>
            <a:srgbClr val="3A3A0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188720"/>
            <a:ext cx="2743200" cy="73152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98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6480" y="1700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Tables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011680"/>
            <a:ext cx="2377440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084832"/>
            <a:ext cx="24688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gold_macro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gold_market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gold_TICKER_dre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gold_TICKER_balance/cf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8412480" cy="2286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Incremental materialization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60320" y="4315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Lineage graph built-in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4315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Schema isolation per layer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49440" y="43159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Column-level documentation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4 TABS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interactive dashboard serving institutional-grade analytics to the end user.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1920240" cy="36576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20240" cy="36576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1920240" cy="36576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234440"/>
            <a:ext cx="1920240" cy="36576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234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691640"/>
            <a:ext cx="4206240" cy="1417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691640"/>
            <a:ext cx="45720" cy="14173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74520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macro charts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075688"/>
            <a:ext cx="3950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rate history (line chart)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 inflation trend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USD/BRL FX chart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balance bar chart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BCB API Series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1691640"/>
            <a:ext cx="4206240" cy="1417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691640"/>
            <a:ext cx="45720" cy="14173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multiples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075688"/>
            <a:ext cx="3950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selector (PRIO3/RENT3/ASAI3)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P/E, P/BV, EV/EBITDA multiples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 vs. 52-week range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table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yFinance daily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4206240" cy="1417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200400"/>
            <a:ext cx="45720" cy="14173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73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874520" y="32918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584448"/>
            <a:ext cx="3950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— Income Statement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— Balance Sheet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— Cash Flow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CVM (ITR/DFP)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gold_TICKER_dre/balance/cf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200400"/>
            <a:ext cx="4206240" cy="1417320"/>
          </a:xfrm>
          <a:prstGeom prst="rect">
            <a:avLst/>
          </a:prstGeom>
          <a:solidFill>
            <a:srgbClr val="1A305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200400"/>
            <a:ext cx="45720" cy="14173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273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32918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Helper (RAG)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3584448"/>
            <a:ext cx="39502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analyst interface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context: macro + market + filings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transcripts in context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Multi-provider: Anthropic / OpenAI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investing system prompt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UX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reflects the aesthetic standards of professional investment platforms.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384048" cy="384048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3167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5270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#123b62 (~65%) + Gold #dc9a56 accent + White. Mirrors Bloomberg Terminal / FactSet design language.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384048" cy="384048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20299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2402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Avenir / Nunito font family — clean, geometric sans-serif. Institutional readability standard.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384048" cy="384048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27432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Density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9535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layout with multi-tab navigation. Analysts expect data-rich views, not simplified consumer UX.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384048" cy="384048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4564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Selector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66674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sidebar company selection propagates across all tabs — consistent context in every view.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169664"/>
            <a:ext cx="384048" cy="384048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416966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Theming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37997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 charts with gold/white data series. Plotly Express with custom theme parameters.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188720"/>
            <a:ext cx="2423160" cy="34290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1188720"/>
            <a:ext cx="242316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126187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PALETTE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1627632"/>
            <a:ext cx="914400" cy="365760"/>
          </a:xfrm>
          <a:prstGeom prst="rect">
            <a:avLst/>
          </a:prstGeom>
          <a:solidFill>
            <a:srgbClr val="123B62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Primary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92240" y="2194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#123b62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589520" y="1627632"/>
            <a:ext cx="914400" cy="365760"/>
          </a:xfrm>
          <a:prstGeom prst="rect">
            <a:avLst/>
          </a:prstGeom>
          <a:solidFill>
            <a:srgbClr val="0B2A47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Dark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589520" y="2194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#0b2a47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492240" y="2450592"/>
            <a:ext cx="914400" cy="365760"/>
          </a:xfrm>
          <a:prstGeom prst="rect">
            <a:avLst/>
          </a:prstGeom>
          <a:solidFill>
            <a:srgbClr val="DC9A56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92240" y="2834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Accent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92240" y="30175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#dc9a56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589520" y="2450592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89520" y="2834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White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589520" y="30175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492240" y="3273552"/>
            <a:ext cx="914400" cy="36576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9224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492240" y="3840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#2d4f6a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589520" y="3273552"/>
            <a:ext cx="914400" cy="365760"/>
          </a:xfrm>
          <a:prstGeom prst="rect">
            <a:avLst/>
          </a:prstGeom>
          <a:solidFill>
            <a:srgbClr val="D0DCE8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58952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589520" y="3840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#d0dce8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RAG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structured context injection into every LLM call.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4297680" cy="713232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61872"/>
            <a:ext cx="4297680" cy="36576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408176"/>
            <a:ext cx="329184" cy="329184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3350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Drop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627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PDF/TXT transcript uploaded to uploads/ folder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50592" y="1975104"/>
            <a:ext cx="36576" cy="109728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12264"/>
            <a:ext cx="4297680" cy="713232"/>
          </a:xfrm>
          <a:prstGeom prst="rect">
            <a:avLst/>
          </a:prstGeom>
          <a:solidFill>
            <a:srgbClr val="1A3D5C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12264"/>
            <a:ext cx="4297680" cy="36576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" y="2258568"/>
            <a:ext cx="329184" cy="329184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1854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FileSensor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4780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FileSensor detects new file, triggers DAG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50592" y="2825496"/>
            <a:ext cx="36576" cy="109728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962656"/>
            <a:ext cx="4297680" cy="713232"/>
          </a:xfrm>
          <a:prstGeom prst="rect">
            <a:avLst/>
          </a:prstGeom>
          <a:solidFill>
            <a:srgbClr val="1A3D5C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62656"/>
            <a:ext cx="4297680" cy="36576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" y="3108960"/>
            <a:ext cx="329184" cy="329184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30358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FileNameParser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3284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 ticker (PRIO3), period (4T25), date from filename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50592" y="3675888"/>
            <a:ext cx="36576" cy="109728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813048"/>
            <a:ext cx="4297680" cy="713232"/>
          </a:xfrm>
          <a:prstGeom prst="rect">
            <a:avLst/>
          </a:prstGeom>
          <a:solidFill>
            <a:srgbClr val="1A3D5C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13048"/>
            <a:ext cx="4297680" cy="36576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" y="3959352"/>
            <a:ext cx="329184" cy="329184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38862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Text Chunker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41788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transcript into ~300-char overlapping chunks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1261872"/>
            <a:ext cx="4297680" cy="713232"/>
          </a:xfrm>
          <a:prstGeom prst="rect">
            <a:avLst/>
          </a:prstGeom>
          <a:solidFill>
            <a:srgbClr val="1E406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261872"/>
            <a:ext cx="4297680" cy="36576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1408176"/>
            <a:ext cx="329184" cy="329184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13350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staging.transcripts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1627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chunks with metadata to PostgreSQL staging table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85432" y="1975104"/>
            <a:ext cx="36576" cy="109728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112264"/>
            <a:ext cx="4297680" cy="713232"/>
          </a:xfrm>
          <a:prstGeom prst="rect">
            <a:avLst/>
          </a:prstGeom>
          <a:solidFill>
            <a:srgbClr val="1E3D1E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112264"/>
            <a:ext cx="4297680" cy="36576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28032" y="2258568"/>
            <a:ext cx="329184" cy="329184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57800" y="21854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RAG Context Builder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24780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Assembles: macro data + market data + financials + transcripts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85432" y="2825496"/>
            <a:ext cx="36576" cy="109728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2962656"/>
            <a:ext cx="4297680" cy="713232"/>
          </a:xfrm>
          <a:prstGeom prst="rect">
            <a:avLst/>
          </a:prstGeom>
          <a:solidFill>
            <a:srgbClr val="3A2800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2962656"/>
            <a:ext cx="429768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28032" y="3108960"/>
            <a:ext cx="329184" cy="329184"/>
          </a:xfrm>
          <a:prstGeom prst="ellipse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57800" y="30358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LLM Response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57800" y="33284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Anthropic/OpenAI call with full structured context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4169664"/>
            <a:ext cx="9144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INGESTION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parsing, chunking and loading of earnings call transcripts into the pipeline.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4206240" cy="201168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80160"/>
            <a:ext cx="4206240" cy="457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37160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371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89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ASAI3  4T25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18105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ASAI3_4T25_2025-11-10.pdf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84832"/>
            <a:ext cx="3931920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5798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41732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4206240" cy="201168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80160"/>
            <a:ext cx="4206240" cy="4572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37160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E406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371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3898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PRIO3  4T25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92040" y="18105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PRIO3_4T25_2025-11-12.txt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2084832"/>
            <a:ext cx="3931920" cy="18288"/>
          </a:xfrm>
          <a:prstGeom prst="rect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15798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585216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429000"/>
            <a:ext cx="8503920" cy="13716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429000"/>
            <a:ext cx="850392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02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FileNameParser — Automatic Metadata Extraction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315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prefix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21408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21408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4T25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21408" y="4315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 \dT\d\d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85616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85616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2025-11-12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85616" y="4315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date in filename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49824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49824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/ PDF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9824" y="4315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extension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14032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14032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segments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14032" y="4315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~300-char splits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LLM with value investing system prompt and full RAG context assembly.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846320" cy="22860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484632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98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·  Value Investing Analyst Persona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1627632"/>
            <a:ext cx="4626864" cy="1828800"/>
          </a:xfrm>
          <a:prstGeom prst="rect">
            <a:avLst/>
          </a:prstGeom>
          <a:solidFill>
            <a:srgbClr val="0B2A47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91640"/>
            <a:ext cx="4407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senior equity research analyst with deep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in Brazilian capital markets and value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(Graham / Buffett framework).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provided: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Macro indicators (BCB)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Market multiples (yFinance)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Financial statements (CVM)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Earnings call transcripts (RAG)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0" y="1234440"/>
            <a:ext cx="3520440" cy="1078992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0" y="1234440"/>
            <a:ext cx="352044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SUPPORT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22392" y="1600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22392" y="1819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claude-3-5-sonnet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680960" y="1572768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1572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22392" y="1947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22392" y="21671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80960" y="1920240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2D4F6A"/>
          </a:solidFill>
          <a:ln w="12700">
            <a:solidFill>
              <a:srgbClr val="2D4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9202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2423160"/>
            <a:ext cx="3520440" cy="109728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0" y="2423160"/>
            <a:ext cx="352044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392" y="2487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CONTEXT ASSEMBLY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22392" y="2770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gold_macro → BCB latest indicators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22392" y="2971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gold_market → multiples for selected ticker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22392" y="3172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gold_TICKER_dre/balance/cf → financials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22392" y="33741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staging.transcripts → matching chunks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657600"/>
            <a:ext cx="8412480" cy="2286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123444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0604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338328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553212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 per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chunk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768096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DELIVERABLES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production-grade investment research platform — built from scratch.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44168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 deployed via docker-compose (7 services)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911096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Airflow DAGs: monday_briefing, site_ingestion, llm_synthesis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78024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medallion: Bronze → Staging (6 models) → Gold (9 tables)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3054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 Streamlit dashboard with institutional design system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" y="36210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with automatic transcript ingestion and chunking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344168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93792" y="1353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LLM integration (Anthropic + OpenAI)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911096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3792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PRIO3, RENT3, ASAI3 — full coverage across all data layers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478024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93792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README with architecture diagrams and setup guide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044952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93792" y="3054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schema: bronze, staging, gold — full isolation by layer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611880"/>
            <a:ext cx="347472" cy="347472"/>
          </a:xfrm>
          <a:prstGeom prst="ellipse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93792" y="36210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 extractor: ITR/DFP statements with structured financial tables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2D4F6A"/>
          </a:solidFill>
          <a:ln w="12700">
            <a:solidFill>
              <a:srgbClr val="1A4E7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4572000"/>
            <a:ext cx="8503920" cy="36576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 Repository  ·  Full source code, dbt models, Airflow DAGs, docker-compose.yml, README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B2A47"/>
          </a:solidFill>
          <a:ln w="12700">
            <a:solidFill>
              <a:srgbClr val="0B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  ·  Charles River Associates — Case Study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architecture choices — each decision made for a specific, justified reason.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07008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371600"/>
                <a:gridCol w="466344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9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9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9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9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Transforms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9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SQL / Pandas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0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Lineage, documentation, incremental materialization, version 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9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/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0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logic, monitoring UI, dependency management, FileSensor 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9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/ Dash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0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iteration, built-in components, Python-native, analyst-friendly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9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0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schema, SQL query power, dbt integration, ACID guarantees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9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0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0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grounding, zero cost, updatable context, no retraining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E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F6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4663440"/>
          </a:xfrm>
          <a:prstGeom prst="rect">
            <a:avLst/>
          </a:prstGeom>
          <a:solidFill>
            <a:srgbClr val="123B62"/>
          </a:solidFill>
          <a:ln w="12700">
            <a:solidFill>
              <a:srgbClr val="123B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4572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4572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4572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572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11430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11430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11430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58200" y="11430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8288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18288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8288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18288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25146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25146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5146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25146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32004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32004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32004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3200400"/>
            <a:ext cx="64008" cy="64008"/>
          </a:xfrm>
          <a:prstGeom prst="ellipse">
            <a:avLst/>
          </a:prstGeom>
          <a:solidFill>
            <a:srgbClr val="1A4E7F"/>
          </a:solidFill>
          <a:ln w="12700">
            <a:solidFill>
              <a:srgbClr val="1A4E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FIA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320040" y="1371600"/>
            <a:ext cx="5029200" cy="2286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148132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DC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28" name="Text 26"/>
          <p:cNvSpPr/>
          <p:nvPr/>
        </p:nvSpPr>
        <p:spPr>
          <a:xfrm>
            <a:off x="32004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20040" y="3063240"/>
            <a:ext cx="4572000" cy="22860"/>
          </a:xfrm>
          <a:prstGeom prst="rect">
            <a:avLst/>
          </a:prstGeom>
          <a:solidFill>
            <a:srgbClr val="DC9A56"/>
          </a:solidFill>
          <a:ln w="12700">
            <a:solidFill>
              <a:srgbClr val="DC9A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18211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investment analysis platform (3 phases)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+ dbt + PostgreSQL + Docker + Streamlit + LLM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PRIO3 · RENT3 · ASAI3 — institutional-grade coverage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River Associates  ·  Internship Case Study  ·  2025 —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Hypothetical FIA — Investment Analysis Platform</dc:title>
  <dc:subject>PptxGenJS Presentation</dc:subject>
  <dc:creator>Candidate</dc:creator>
  <cp:lastModifiedBy>Candidate</cp:lastModifiedBy>
  <cp:revision>1</cp:revision>
  <dcterms:created xsi:type="dcterms:W3CDTF">2026-03-30T16:34:38Z</dcterms:created>
  <dcterms:modified xsi:type="dcterms:W3CDTF">2026-03-30T16:34:38Z</dcterms:modified>
</cp:coreProperties>
</file>